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【建议时长】20 秒
【开场/转场】停顿两秒后开场。
【必须讲清】今天发布的是小费分配规则的四项线上能力。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【建议时长】35 秒
【开场/转场】先讲日常，而不是先讲功能。
【必须讲清】客户每天在小费分配明细里修工时、补服务费、重新核对销售额。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【建议时长】45 秒
【开场/转场】把四个问题快速扫一遍。
【必须讲清】它们共同指向同一个问题：门店真实规则无法自动落进系统。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【建议时长】25 秒
【开场/转场】这些不是四个孤立问题，而是门店规则无法自动落进系统。
【必须讲清】正式发布四项增强，核心结果是减少人工修改。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【建议时长】35 秒
【开场/转场】先建立全局地图，再逐项展开。
【必须讲清】四项能力分别解决计算、数据来源、销售额筛选和订单筛选。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【建议时长】65 秒
【开场/转场】从能力总览进入第一项。
【必须讲清】门店配置最大时长 5h；员工实际打卡 7h；启用最大时长规则后按 5h 分配。
【不要误讲】不要说成固定取排班时长，也不要说成简单的 5h/7h 二选一；系统逻辑是取实际值与配置上限的较小值。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【建议时长】65 秒
【开场/转场】规则不仅要算得准，数据还要进得来。
【必须讲清】贡献规则新增加收服务费；支持角色、员工、订单区域、订单类型、营业时间段，以及订单加收和商品加收。
【不要误讲】不要承诺所有加收都默认计入；是否取值仍由规则条件决定。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【建议时长】80 秒
【开场/转场】数据自动进来之后，还要决定哪些销售额真正参与分配。
【必须讲清】支付方式为多选，支持六种方式；可与七类条件叠加；营业额类型为支付方式时不展示菜单条件。
【不要误讲】不要说支付方式只能单选，也不要漏讲菜单条件隐藏。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【建议时长】85 秒
【开场/转场】支付方式解决钱怎么收，订单小费状态解决哪些订单该算。
【必须讲清】含小费由三类订单小费任一金额大于零判定；配置为小费的加收服务费计入；手动上报不计。
【不要误讲】不要把信用卡小费、现金小费、其他小费误讲为订单支付方式。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【建议时长】65 秒
【开场/转场】用一组数字把规则讲透。
【必须讲清】A 单销售额 $100、小费 $10；B 单销售额 $50、无小费。含小费取 $100，不含小费取 $50，不设置取 $150。
【不要误讲】销售额不包含小费金额本身，因此含小费订单结果是 $100，而不是 $110。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【建议时长】45 秒
【开场/转场】四项能力最终只带来一个结果：让门店少改明细、少做重复核对。
【必须讲清】价值不是多四个配置，而是把门店真实规则固化为可重复执行的系统规则。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【建议时长】50 秒
【开场/转场】把销售从功能记忆切换到客户信号。
【必须讲清】四类典型客户话语分别对应四项能力，销售可用这些问题做需求发现。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【建议时长】55 秒
【开场/转场】这一页可以直接照读。
【必须讲清】先说客户规则复杂，再说四项能力，最后落到省人工与准确性。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【建议时长】55 秒
【开场/转场】销售介绍完后，用四个问答校准边界。
【必须讲清】逐条读问句，答案简短明确；重点强调最大时长取较小值、支付方式多选、服务费配置和手动上报边界。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【建议时长】180 秒
【开场/转场】现在切到真实产品，用三分钟完成四步演示。
【必须讲清】依次展示最大时长、加收服务费、支付方式多选和订单小费状态案例；PPT 只作为步骤导航。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【建议时长】60 秒
【开场/转场】回到开场记忆点，放慢收束。
【必须讲清】请大家记住：不用每天改明细，小费分配也能自动贴合门店真实规则。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产品发布会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小费管理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新增能力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20" kern="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 MANAGEMENT · RULE ENHANCEMENTS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087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每天都要改的规则，</a:t>
            </a:r>
            <a:endParaRPr lang="en-US" sz="37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不应该每天都靠人改。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2788920" y="3429000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FF6A00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8920" y="3438144"/>
            <a:ext cx="35661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从人工补救，走向规则自动化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门店正在用人工，补系统规则的缺口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160020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3816" y="189280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异常工时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3816" y="2377440"/>
            <a:ext cx="3218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打卡 7h，却只认可 5h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36008" y="141732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55464" y="160020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D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5464" y="189280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服务费补录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55464" y="2377440"/>
            <a:ext cx="3218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订单已收取，还要手工再录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907792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" y="3090672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5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3816" y="338328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销售额太粗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" y="3867912"/>
            <a:ext cx="3218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不同支付方式无法拆分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36008" y="2907792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55464" y="3090672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55464" y="338328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订单混在一起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55464" y="3867912"/>
            <a:ext cx="321868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含小费与不含小费无法区分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今天，我们正式上线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</a:t>
            </a:r>
            <a:endParaRPr lang="en-US" sz="6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小费分配规则增强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3474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规则更精准 · 数据更自动 · 分配更省心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NEW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四项能力，一条自动化链路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778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1907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664" y="22677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工时上限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" y="30358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算得准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0008" y="2441448"/>
            <a:ext cx="237744" cy="310896"/>
          </a:xfrm>
          <a:prstGeom prst="chevron">
            <a:avLst/>
          </a:prstGeom>
          <a:solidFill>
            <a:srgbClr val="34343A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5087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7780">
            <a:solidFill>
              <a:srgbClr val="64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171907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D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43784" y="22677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加收服务费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43784" y="30358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进得来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3128" y="2441448"/>
            <a:ext cx="237744" cy="310896"/>
          </a:xfrm>
          <a:prstGeom prst="chevron">
            <a:avLst/>
          </a:prstGeom>
          <a:solidFill>
            <a:srgbClr val="34343A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5087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7780">
            <a:solidFill>
              <a:srgbClr val="BF5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71907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5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46904" y="22677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46904" y="30358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筛得细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56248" y="2441448"/>
            <a:ext cx="237744" cy="310896"/>
          </a:xfrm>
          <a:prstGeom prst="chevron">
            <a:avLst/>
          </a:prstGeom>
          <a:solidFill>
            <a:srgbClr val="34343A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5087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7780">
            <a:solidFill>
              <a:srgbClr val="34C7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71907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50024" y="22677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小费状态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50024" y="30358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选得对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工时最大值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异常打卡，不再放大小费权重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81912"/>
            <a:ext cx="1234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实际打卡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57400" y="2221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157276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581912"/>
            <a:ext cx="14173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配置最大时长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5h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4389120" y="2212848"/>
            <a:ext cx="502920" cy="310896"/>
          </a:xfrm>
          <a:prstGeom prst="chevron">
            <a:avLst/>
          </a:prstGeom>
          <a:solidFill>
            <a:srgbClr val="FF6A00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4173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85816" y="1600200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RESULT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85816" y="1828800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85816" y="2450592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参与小费分配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85816" y="2898648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系统比较实际打卡时长与最大时长，取较小值。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未启用最大时长规则时，仍按实际打卡时长计算。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加收服务费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订单里已经收取的服务费，自动进入小费池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286000" cy="2423160"/>
          </a:xfrm>
          <a:prstGeom prst="roundRect">
            <a:avLst>
              <a:gd name="adj" fmla="val 3200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155448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3816" y="184708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人工补录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3816" y="233172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自定义金额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逐日录入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保存后再生成分配结果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2359152"/>
            <a:ext cx="530352" cy="310896"/>
          </a:xfrm>
          <a:prstGeom prst="chevron">
            <a:avLst/>
          </a:prstGeom>
          <a:solidFill>
            <a:srgbClr val="FF6A00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50208" y="1371600"/>
            <a:ext cx="2286000" cy="2423160"/>
          </a:xfrm>
          <a:prstGeom prst="roundRect">
            <a:avLst>
              <a:gd name="adj" fmla="val 3200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69664" y="155448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D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9664" y="184708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规则自动取值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69664" y="233172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贡献规则新增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“加收服务费”来源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10528" y="2359152"/>
            <a:ext cx="530352" cy="310896"/>
          </a:xfrm>
          <a:prstGeom prst="chevron">
            <a:avLst/>
          </a:prstGeom>
          <a:solidFill>
            <a:srgbClr val="34C75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371600"/>
            <a:ext cx="1234440" cy="2423160"/>
          </a:xfrm>
          <a:prstGeom prst="roundRect">
            <a:avLst>
              <a:gd name="adj" fmla="val 5926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34656" y="155448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34656" y="1783080"/>
            <a:ext cx="795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少录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34656" y="2404872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34656" y="2852928"/>
            <a:ext cx="795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少对账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93268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32504"/>
            <a:ext cx="9326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0" y="4023360"/>
            <a:ext cx="93268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4032504"/>
            <a:ext cx="9326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0" y="4023360"/>
            <a:ext cx="93268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4032504"/>
            <a:ext cx="9326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订单区域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23360" y="4023360"/>
            <a:ext cx="93268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4032504"/>
            <a:ext cx="9326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订单类型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20640" y="4023360"/>
            <a:ext cx="93268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032504"/>
            <a:ext cx="9326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营业时间段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932688" cy="365760"/>
          </a:xfrm>
          <a:prstGeom prst="roundRect">
            <a:avLst>
              <a:gd name="adj" fmla="val 20000"/>
            </a:avLst>
          </a:prstGeom>
          <a:solidFill>
            <a:srgbClr val="FF6A00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032504"/>
            <a:ext cx="9326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订单加收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4023360"/>
            <a:ext cx="932688" cy="365760"/>
          </a:xfrm>
          <a:prstGeom prst="roundRect">
            <a:avLst>
              <a:gd name="adj" fmla="val 20000"/>
            </a:avLst>
          </a:prstGeom>
          <a:solidFill>
            <a:srgbClr val="FF6A00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4032504"/>
            <a:ext cx="9326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商品加收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支付方式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销售额，可以只计算指定支付方式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627632" cy="438912"/>
          </a:xfrm>
          <a:prstGeom prst="roundRect">
            <a:avLst>
              <a:gd name="adj" fmla="val 16667"/>
            </a:avLst>
          </a:prstGeom>
          <a:solidFill>
            <a:srgbClr val="34C75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26464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417320"/>
            <a:ext cx="1627632" cy="438912"/>
          </a:xfrm>
          <a:prstGeom prst="roundRect">
            <a:avLst>
              <a:gd name="adj" fmla="val 16667"/>
            </a:avLst>
          </a:prstGeom>
          <a:solidFill>
            <a:srgbClr val="FF6A00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26464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1627632" cy="438912"/>
          </a:xfrm>
          <a:prstGeom prst="roundRect">
            <a:avLst>
              <a:gd name="adj" fmla="val 16667"/>
            </a:avLst>
          </a:prstGeom>
          <a:solidFill>
            <a:srgbClr val="BF5AF2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26464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礼品卡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075688"/>
            <a:ext cx="1627632" cy="438912"/>
          </a:xfrm>
          <a:prstGeom prst="roundRect">
            <a:avLst>
              <a:gd name="adj" fmla="val 16667"/>
            </a:avLst>
          </a:prstGeom>
          <a:solidFill>
            <a:srgbClr val="64D2FF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84832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075688"/>
            <a:ext cx="1627632" cy="438912"/>
          </a:xfrm>
          <a:prstGeom prst="roundRect">
            <a:avLst>
              <a:gd name="adj" fmla="val 16667"/>
            </a:avLst>
          </a:prstGeom>
          <a:solidFill>
            <a:srgbClr val="FF9F0A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084832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ALIPAY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075688"/>
            <a:ext cx="1627632" cy="438912"/>
          </a:xfrm>
          <a:prstGeom prst="roundRect">
            <a:avLst>
              <a:gd name="adj" fmla="val 16667"/>
            </a:avLst>
          </a:prstGeom>
          <a:solidFill>
            <a:srgbClr val="34C75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084832"/>
            <a:ext cx="16276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WECHATPAY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298448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0256" y="148132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5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MULTI-SELECT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1773936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2258568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与其他销售额取值条件叠加过滤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可叠加条件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83080" y="3090672"/>
            <a:ext cx="84124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3099816"/>
            <a:ext cx="84124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52344" y="3090672"/>
            <a:ext cx="84124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3099816"/>
            <a:ext cx="84124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21608" y="3090672"/>
            <a:ext cx="84124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21608" y="3099816"/>
            <a:ext cx="84124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订单区域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0872" y="3090672"/>
            <a:ext cx="84124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099816"/>
            <a:ext cx="84124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订单类型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0136" y="3090672"/>
            <a:ext cx="84124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0136" y="3099816"/>
            <a:ext cx="84124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订单小费状态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3090672"/>
            <a:ext cx="84124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099816"/>
            <a:ext cx="84124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98664" y="3090672"/>
            <a:ext cx="841248" cy="365760"/>
          </a:xfrm>
          <a:prstGeom prst="roundRect">
            <a:avLst>
              <a:gd name="adj" fmla="val 20000"/>
            </a:avLst>
          </a:prstGeom>
          <a:solidFill>
            <a:srgbClr val="222229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8664" y="3099816"/>
            <a:ext cx="84124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营业时间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3950208"/>
            <a:ext cx="7955280" cy="566928"/>
          </a:xfrm>
          <a:prstGeom prst="roundRect">
            <a:avLst>
              <a:gd name="adj" fmla="val 9677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1148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当营业额类型选择“支付方式”时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0644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“菜单”条件不展示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订单小费状态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只让符合小费状态的订单进入销售额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6A00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0744"/>
            <a:ext cx="74980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" y="2011680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OPTION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" y="2304288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含小费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788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信用卡小费、现金小费、其他小费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任一金额 &gt; $0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57016" y="2011680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OPTION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57016" y="2304288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不含小费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57016" y="2788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上述三类订单小费金额均为 $0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2011680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BOUNDARY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0216" y="23042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两个特殊口径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0216" y="27889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配置为“记作小费”的加收服务费：计入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手动上报小费：不计入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该条件可与其他销售额取值条件叠加过滤。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计算示例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同一批订单，三种清晰结果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150876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3816" y="173736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3816" y="235915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$10 小费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" y="315468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 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" y="338328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3816" y="40050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无小费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971800" y="2496312"/>
            <a:ext cx="457200" cy="310896"/>
          </a:xfrm>
          <a:prstGeom prst="chevron">
            <a:avLst/>
          </a:prstGeom>
          <a:solidFill>
            <a:srgbClr val="34343A"/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115568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22776" y="1298448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选择“含小费”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22776" y="1527048"/>
            <a:ext cx="4407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703320" y="2258568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22776" y="2441448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选择“不含小费”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22776" y="2670048"/>
            <a:ext cx="4407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$50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703320" y="3401568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22776" y="3584448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不添加该条件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22776" y="3813048"/>
            <a:ext cx="4407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$150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四项配置，最终只带来一个结果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少改明细。</a:t>
            </a:r>
            <a:endParaRPr lang="en-US" sz="34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少做重复核对。</a:t>
            </a:r>
            <a:endParaRPr lang="en-US" sz="34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每次分配都更可信。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71500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34456" y="155448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4456" y="1847088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规则更准确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0" y="137160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51776" y="155448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D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51776" y="1847088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数据自动进入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715000" y="278892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34456" y="297180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34456" y="3264408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减少人工操作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132320" y="278892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51776" y="297180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5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51776" y="3264408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结果口径一致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 NEEDS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听到这四句话，就是销售机会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80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“员工经常忘记下班打卡。”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80760" y="1389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推荐：工时最大值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222229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311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“服务费每天都要再录一遍。”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2240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推荐：加收服务费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35224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81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“我们只按信用卡销售额扣点。”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推荐：支付方式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85616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222229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“没给小费的订单不应该参与。”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80760" y="39410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推荐：订单小费状态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SALES PITCH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秒，怎么介绍？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7772400" cy="804672"/>
          </a:xfrm>
          <a:prstGeom prst="roundRect">
            <a:avLst>
              <a:gd name="adj" fmla="val 6818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356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先说现状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417320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很多门店的小费规则，并不只是按总销售额或实际打卡时长简单分配。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7772400" cy="804672"/>
          </a:xfrm>
          <a:prstGeom prst="roundRect">
            <a:avLst>
              <a:gd name="adj" fmla="val 6818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597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再说能力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441448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最大工时自动封顶，服务费自动入池，并按支付方式和订单小费状态精准筛选销售额。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346704"/>
            <a:ext cx="7772400" cy="804672"/>
          </a:xfrm>
          <a:prstGeom prst="roundRect">
            <a:avLst>
              <a:gd name="adj" fmla="val 6818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838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最后说价值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3465576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把每天改明细、补金额、重新核对的工作写进规则里，让分配更准确，也更省时间。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Q&amp;A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客户追问时，守住这四个口径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3816" y="148132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3816" y="177393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最大时长是固定工时吗？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3816" y="2258568"/>
            <a:ext cx="3218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不是。系统比较实际时长与配置上限，取较小值。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36008" y="1298448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55464" y="148132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5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5464" y="177393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支付方式只能选一种吗？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55464" y="2258568"/>
            <a:ext cx="3218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不是。支持多选，并可与其他销售额条件叠加。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8346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" y="301752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D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3816" y="331012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服务费都算订单小费吗？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" y="3794760"/>
            <a:ext cx="3218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只有配置为“记作小费”的加收服务费才计入。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36008" y="28346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55464" y="3017520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55464" y="331012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手动上报小费算含小费订单吗？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55464" y="3794760"/>
            <a:ext cx="3218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不算。它只与员工有关，不属于订单。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DEMO · 3 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现场演示：四步看见规则生效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530352" cy="530352"/>
          </a:xfrm>
          <a:prstGeom prst="ellipse">
            <a:avLst/>
          </a:prstGeom>
          <a:solidFill>
            <a:srgbClr val="222229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6245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3167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80360" y="13441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7h → 上限 5h → 结果 5h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42416" y="1828800"/>
            <a:ext cx="0" cy="301752"/>
          </a:xfrm>
          <a:prstGeom prst="line">
            <a:avLst/>
          </a:prstGeom>
          <a:noFill/>
          <a:ln w="25400">
            <a:solidFill>
              <a:srgbClr val="3434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130552"/>
            <a:ext cx="530352" cy="530352"/>
          </a:xfrm>
          <a:prstGeom prst="ellipse">
            <a:avLst/>
          </a:prstGeom>
          <a:solidFill>
            <a:srgbClr val="222229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9456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72768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2176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选择来源 → 设置条件 → 自动入池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42416" y="2660904"/>
            <a:ext cx="0" cy="301752"/>
          </a:xfrm>
          <a:prstGeom prst="line">
            <a:avLst/>
          </a:prstGeom>
          <a:noFill/>
          <a:ln w="25400">
            <a:solidFill>
              <a:srgbClr val="3434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62656"/>
            <a:ext cx="530352" cy="530352"/>
          </a:xfrm>
          <a:prstGeom prst="ellipse">
            <a:avLst/>
          </a:prstGeom>
          <a:solidFill>
            <a:srgbClr val="222229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266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72768" y="2980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80360" y="30083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多选方式 → 叠加条件 → 查看销售额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42416" y="3493008"/>
            <a:ext cx="0" cy="301752"/>
          </a:xfrm>
          <a:prstGeom prst="line">
            <a:avLst/>
          </a:prstGeom>
          <a:noFill/>
          <a:ln w="25400">
            <a:solidFill>
              <a:srgbClr val="3434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94760"/>
            <a:ext cx="530352" cy="53035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58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72768" y="3813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小费状态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8036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 / $50 / $150 三种结果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1353312"/>
            <a:ext cx="1920240" cy="2880360"/>
          </a:xfrm>
          <a:prstGeom prst="roundRect">
            <a:avLst>
              <a:gd name="adj" fmla="val 3810"/>
            </a:avLst>
          </a:prstGeom>
          <a:solidFill>
            <a:srgbClr val="17171C"/>
          </a:solidFill>
          <a:ln w="12700">
            <a:solidFill>
              <a:srgbClr val="343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57416" y="153619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GOAL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57416" y="176479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min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57416" y="2386584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看见结果变化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57416" y="2834640"/>
            <a:ext cx="14813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少讲配置细节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每一步都回到客户价值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02920"/>
            <a:ext cx="1554480" cy="155448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0B0B0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18872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规则更精准。</a:t>
            </a:r>
            <a:endParaRPr lang="en-US" sz="3900" dirty="0"/>
          </a:p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数据更自动。</a:t>
            </a:r>
            <a:endParaRPr lang="en-US" sz="3900" dirty="0"/>
          </a:p>
          <a:p>
            <a:pPr algn="ctr" indent="0" marL="0">
              <a:buNone/>
            </a:pPr>
            <a:r>
              <a:rPr lang="en-US" sz="4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分配更省心。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不用每天改明细，小费分配也能自动贴合门店真实规则。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6817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8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MenuSifu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小费管理新增能力产品发布会</dc:title>
  <dc:subject>小费分配规则四项线上能力发布</dc:subject>
  <dc:creator>Product Team</dc:creator>
  <cp:lastModifiedBy>Product Team</cp:lastModifiedBy>
  <cp:revision>1</cp:revision>
  <dcterms:created xsi:type="dcterms:W3CDTF">2026-09-09T05:19:35Z</dcterms:created>
  <dcterms:modified xsi:type="dcterms:W3CDTF">2026-09-09T05:19:35Z</dcterms:modified>
</cp:coreProperties>
</file>