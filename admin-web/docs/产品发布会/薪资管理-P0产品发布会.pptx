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2"/>
  </p:notesMasterIdLst>
  <p:sldIdLst>
    <p:sldId id="257" r:id="rId2"/>
    <p:sldId id="258" r:id="rId3"/>
    <p:sldId id="259" r:id="rId4"/>
    <p:sldId id="296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215" d="100"/>
          <a:sy n="215" d="100"/>
        </p:scale>
        <p:origin x="2766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460712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停顿两秒。「各位同事，今天我们正式发布公司全新增值服务——薪资管理，Payroll 1.0。」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模板目标页：发布会不是培训，是让卖点深入人心。开场先立记忆点。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对齐发布会模板四段结构，提醒听众：少功能列表，多价值与故事。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需求背景很简单：餐饮薪资的数据散、核对频繁、交付繁琐。每两周都要重新汇总考勤、小费和加班，还要准备签字留档与报税文件，所以需要统一的薪资准备工作台。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用节奏感开场，让现场感到封账压力的重复。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「专员在多处抄同一数字，再贴进报税文件。错一次，整周白干。」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第二层痛：「算完还没完。」员工要签字，门店要留档，会计师还要文件。三套交付，缺一套真相——这正是薪资管理 1.0 要解决的。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四连假如，语气上扬：「考勤自动算？小费自动进来？加班自动算？导出就能用？」引出发布。注意：现阶段不讲对接 ADP，末句是「导出就能用」。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全场最重要一页。放慢：「薪资管理。Payroll 1.0。」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补充场景必讲：「薪资管理是公司全新的增值服务。」不是现有模块小改，而是可单独售卖、开通的新产品。销售按增值服务话术推进。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Slogan 三连，每句停半拍。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「不是发薪平台，是准备层。」核对干净后导出报税文件；现阶段不对接 ADP 系统，由专员/会计师人工导入。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三不原则：「不发薪。不代报税。现阶段不对接 ADP。」交付是模板对齐的导出文件，人工导入。禁止说已打通 ADP。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模板：重点讲 2–3 个核心卖点。业务场景 → 产品能力 → 带来的价值。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用销售语言：帮客户省时间、少出错，不是讲字段。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合规与信任卖点：门店终于有一张和系统一致的签字纸。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边界仍要带一句：不对接 ADP，是格式导出 + 人工导入。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短停。「接下来，三个核心能力。」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能力一：改一次，明细与导出一起变。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很多商户缺的是能签、能对齐的一页纸。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能力三：「导出即用，但现阶段不对接 ADP。」价值是少拼表格；导入仍是人工一步。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「小费自动进来——来自自有 TipOut。」建议先完成小费分配，再进本期薪资管理。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「加班，自动算。」专员复核即可。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「小费分配自动带入 → 薪资管理加班自动并核对 → 格式导出，人工导入报税侧。现阶段不对接 ADP。」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演示：小费自动 → 加班自动 → 确认 → 导出。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模板要求：优先产品演示。本页后进入 Live Demo。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演示时停 PPT，切系统。强调客户最终拿到：自动数字 + 签字纸 + 可交会计师的文件。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看效果收束：别讲功能清单，讲客户手里多了什么。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五个场景。甲必讲：全新增值服务。戊必讲：现阶段不对接 ADP。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六句画像：报税文件、小费分配、表格拼数、签字留档、双周核对、已用 TipOut。口播：「已经用了我们小费分配的，更是天然适合加购 Payroll 1.0。」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模板最后一段：回答销售最关心的问题。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为什么买：痛、省、交、加——四字好记。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证明不等于造假案例：用需求、竞品、闭环、可信边界支撑「值得卖」。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模板 Checklist：发布会结束后若只记住一件事，就记这句。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转向内部：「产品讲完了，各部门会后怎么落地？下一页每人三件事，看懂就能执行。」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白话点名：销售负责怎么卖，运营负责怎么开，市场负责怎么讲，售后负责怎么答。每人三件事，会后 48 小时内落地。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话术拆成四句跟读：是什么 → 能做什么 → 怎么用 → 边界。比长段落更好记、更好对外复述。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四问四答。增值服务与不对接 ADP 要答得干净。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Slogan 再现 + 能力与边界脚注。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「谢谢。Payroll 1.0 已就绪。现在开放提问。」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kern="0" spc="6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产品发布会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2606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薪资管理（Payroll）</a:t>
            </a:r>
            <a:endParaRPr lang="en-US" sz="3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1A1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今天只记住一件事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少抄表、少出错、报税文件一次出齐。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核对一次 · 签字有据 · 报税即用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今天怎么讲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二十分钟，四段话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005840" y="1965960"/>
            <a:ext cx="7132320" cy="530352"/>
          </a:xfrm>
          <a:prstGeom prst="roundRect">
            <a:avLst>
              <a:gd name="adj" fmla="val 13793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0" y="205740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为什么做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383280" y="205740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1A1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2–3 分钟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937760" y="205740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客户痛点与真实场景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05840" y="2606040"/>
            <a:ext cx="7132320" cy="530352"/>
          </a:xfrm>
          <a:prstGeom prst="roundRect">
            <a:avLst>
              <a:gd name="adj" fmla="val 13793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269748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</a:t>
            </a:r>
            <a:r>
              <a:rPr lang="en-US" sz="1500" b="1" dirty="0" err="1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亮点</a:t>
            </a:r>
            <a:r>
              <a:rPr lang="zh-CN" altLang="en-US" sz="1500" b="1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是什么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383280" y="269748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1A1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10 分钟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269748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2–3 个核心卖点，讲价值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005840" y="3246120"/>
            <a:ext cx="7132320" cy="530352"/>
          </a:xfrm>
          <a:prstGeom prst="roundRect">
            <a:avLst>
              <a:gd name="adj" fmla="val 13793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0" y="33375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</a:t>
            </a:r>
            <a:r>
              <a:rPr lang="en-US" sz="1500" b="1" dirty="0" err="1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</a:t>
            </a:r>
            <a:r>
              <a:rPr lang="zh-CN" altLang="en-US" sz="1500" b="1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383280" y="333756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1A1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5 分钟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37760" y="33375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现场演示，少讲多看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005840" y="3886200"/>
            <a:ext cx="7132320" cy="530352"/>
          </a:xfrm>
          <a:prstGeom prst="roundRect">
            <a:avLst>
              <a:gd name="adj" fmla="val 13793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0" y="39776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怎么卖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383280" y="39776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1A1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2–3 分钟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37760" y="397764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卖给谁、为什么买、一句话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85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需求背景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餐饮薪资，长期依赖人工拼接。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2606040" cy="1645920"/>
          </a:xfrm>
          <a:prstGeom prst="roundRect">
            <a:avLst>
              <a:gd name="adj" fmla="val 5556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67512" y="245059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数据分散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2944368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考勤、小费、加班、报税文件分散在不同环节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2148840"/>
            <a:ext cx="2606040" cy="1645920"/>
          </a:xfrm>
          <a:prstGeom prst="roundRect">
            <a:avLst>
              <a:gd name="adj" fmla="val 5556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6432" y="245059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重复核对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474720" y="2944368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双周发薪，每期都要重新汇总与对账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80760" y="2148840"/>
            <a:ext cx="2606040" cy="1645920"/>
          </a:xfrm>
          <a:prstGeom prst="roundRect">
            <a:avLst>
              <a:gd name="adj" fmla="val 5556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45352" y="245059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交付繁琐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263640" y="2944368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员工要签字、门店要留档、会计师要文件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425196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所以，我们需要一个统一的薪资准备工作台。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73736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每两周一次。</a:t>
            </a:r>
            <a:endParaRPr lang="en-US" sz="4200" dirty="0"/>
          </a:p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一年，二十六次。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发薪周期 · 双周薪酬节奏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现实如此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A1A1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考勤。小费。表格。报税。</a:t>
            </a:r>
            <a:endParaRPr lang="en-US" sz="28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同一个数字，抄了四遍。</a:t>
            </a:r>
            <a:endParaRPr lang="en-US"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算完，还没完。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员工要签字。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门店要留档。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会计师要文件。</a:t>
            </a:r>
            <a:endParaRPr lang="en-US" sz="3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假如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325880"/>
            <a:ext cx="8229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如果，考勤自动算？</a:t>
            </a:r>
            <a:endParaRPr lang="en-US" sz="2600" dirty="0"/>
          </a:p>
          <a:p>
            <a:pPr marL="0" indent="0" algn="ctr">
              <a:buNone/>
            </a:pPr>
            <a:r>
              <a:rPr lang="en-US" sz="2600" b="1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如果，小费自动进来？</a:t>
            </a:r>
            <a:endParaRPr lang="en-US" sz="2600" dirty="0"/>
          </a:p>
          <a:p>
            <a:pPr marL="0" indent="0" algn="ctr">
              <a:buNone/>
            </a:pPr>
            <a:r>
              <a:rPr lang="en-US" sz="2600" b="1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如果，加班自动算？</a:t>
            </a:r>
            <a:endParaRPr lang="en-US" sz="2600" dirty="0"/>
          </a:p>
          <a:p>
            <a:pPr marL="0" indent="0" algn="ctr">
              <a:buNone/>
            </a:pPr>
            <a:r>
              <a:rPr lang="en-US" sz="2600" b="1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如果，导出就能用？</a:t>
            </a:r>
            <a:endParaRPr lang="en-US" sz="2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1A1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今天，我们正式发布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19202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薪资管理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Payroll  ·  1.0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产品定位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55448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全新增值服务。</a:t>
            </a:r>
            <a:endParaRPr lang="en-US" sz="36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A1A1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不是标配，是可售能力。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公司级新产品线  ·  可单独对外销售与开通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46304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核对一次。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签字有据。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报税即用。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它是什么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A1A1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不是发薪平台。</a:t>
            </a:r>
            <a:endParaRPr lang="en-US" sz="2800" dirty="0"/>
          </a:p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是餐饮薪酬的准备层。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毛薪准备 · 格式导出 · 现阶段不对接 ADP 系统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219456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不发薪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77240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1A1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不做代发工资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429000" y="173736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66160" y="219456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不代报税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566160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1A1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申报仍在外部完成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73736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16161A"/>
          </a:solidFill>
          <a:ln w="19050">
            <a:solidFill>
              <a:srgbClr val="FF6A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55080" y="219456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不对接 ADP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355080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1A1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现阶段无系统对接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讲亮点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只讲三个，值得卖的。</a:t>
            </a:r>
            <a:endParaRPr lang="en-US" sz="3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卖点一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508760"/>
            <a:ext cx="7498080" cy="822960"/>
          </a:xfrm>
          <a:prstGeom prst="roundRect">
            <a:avLst>
              <a:gd name="adj" fmla="val 11111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1618488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业务场景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05840" y="18745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场景：每期还在表格里抄考勤、小费、加班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468880"/>
            <a:ext cx="7498080" cy="822960"/>
          </a:xfrm>
          <a:prstGeom prst="roundRect">
            <a:avLst>
              <a:gd name="adj" fmla="val 11111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578608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产品能力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83464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能力：考勤/加班自动算 · 小费从 TipOut 自动带入 · 一处改数处处一致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3429000"/>
            <a:ext cx="7498080" cy="822960"/>
          </a:xfrm>
          <a:prstGeom prst="roundRect">
            <a:avLst>
              <a:gd name="adj" fmla="val 11111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538728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带来的价值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379476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价值：少抄表、少出错，每期省下反复对账的时间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卖点二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508760"/>
            <a:ext cx="7498080" cy="822960"/>
          </a:xfrm>
          <a:prstGeom prst="roundRect">
            <a:avLst>
              <a:gd name="adj" fmla="val 11111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1618488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业务场景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05840" y="18745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场景：员工要签字，门店要留档，数字却对不上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468880"/>
            <a:ext cx="7498080" cy="822960"/>
          </a:xfrm>
          <a:prstGeom prst="roundRect">
            <a:avLst>
              <a:gd name="adj" fmla="val 11111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578608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产品能力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83464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能力：一键生成可打印的员工薪资明细与签字声明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3429000"/>
            <a:ext cx="7498080" cy="822960"/>
          </a:xfrm>
          <a:prstGeom prst="roundRect">
            <a:avLst>
              <a:gd name="adj" fmla="val 11111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538728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带来的价值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379476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价值：签得了、留得住，争议时可追溯，降低纠纷成本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卖点三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508760"/>
            <a:ext cx="7498080" cy="822960"/>
          </a:xfrm>
          <a:prstGeom prst="roundRect">
            <a:avLst>
              <a:gd name="adj" fmla="val 11111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1618488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业务场景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05840" y="18745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场景：会计师催报税文件，专员还在 Excel 拼列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468880"/>
            <a:ext cx="7498080" cy="822960"/>
          </a:xfrm>
          <a:prstGeom prst="roundRect">
            <a:avLst>
              <a:gd name="adj" fmla="val 11111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578608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产品能力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83464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能力：导出与报税模板对齐的文件（现阶段人工导入）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3429000"/>
            <a:ext cx="7498080" cy="822960"/>
          </a:xfrm>
          <a:prstGeom prst="roundRect">
            <a:avLst>
              <a:gd name="adj" fmla="val 11111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538728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带来的价值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379476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价值：核对完就能交文件，少返工、少贴列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三个核心能力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壹  ·  贰  ·  叁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壹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一处改数。</a:t>
            </a:r>
            <a:endParaRPr lang="en-US" sz="4400" dirty="0"/>
          </a:p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处处一致。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3832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A1A1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薪资管理为唯一事实来源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A1A1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员工明细与导出文件，同源投影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贰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给员工的一页纸。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签得了，留得住。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371600" y="33832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A1A1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员工薪资明细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A1A1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打印友好 · 签字声明 · 与最终值一致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叁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报税格式，导出即用。</a:t>
            </a:r>
            <a:endParaRPr lang="en-US" sz="34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系统对接？现阶段没有。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97280" y="338328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A1A1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模板对齐的文件导出  ·  专员 / 会计师人工导入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还有更多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小费，自动进来。</a:t>
            </a:r>
            <a:endParaRPr lang="en-US" sz="3800" dirty="0"/>
          </a:p>
          <a:p>
            <a:pPr marL="0" indent="0" algn="ctr">
              <a:buNone/>
            </a:pPr>
            <a:r>
              <a:rPr lang="en-US" sz="2600" b="1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来自自有小费分配。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1097280" y="338328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A1A1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从自有 TipOut 自动获取  ·  少一次手工抄录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加班，自动算。</a:t>
            </a:r>
            <a:endParaRPr lang="en-US" sz="40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A1A1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正常工时 / 加班 / 双倍，系统拆分。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097280" y="347472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A1A1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基于考勤与规则自动汇总  ·  专员可复核确认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如何运转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一条链。自动衔接。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1828800"/>
            <a:ext cx="2286000" cy="1828800"/>
          </a:xfrm>
          <a:prstGeom prst="roundRect">
            <a:avLst>
              <a:gd name="adj" fmla="val 5000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11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小费分配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1A1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小费自动带入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154680" y="24688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657600" y="1828800"/>
            <a:ext cx="2286000" cy="1828800"/>
          </a:xfrm>
          <a:prstGeom prst="roundRect">
            <a:avLst>
              <a:gd name="adj" fmla="val 5000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0" y="2011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657600" y="2468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薪资管理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0" y="3017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1A1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加班自动 · 核对确认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897880" y="24688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400800" y="1828800"/>
            <a:ext cx="2286000" cy="1828800"/>
          </a:xfrm>
          <a:prstGeom prst="roundRect">
            <a:avLst>
              <a:gd name="adj" fmla="val 5000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2011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00800" y="2468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格式导出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00800" y="3017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1A1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人工导入报税侧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55448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薪资管理工作区</a:t>
            </a:r>
            <a:endParaRPr lang="en-US" sz="36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A1A1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薪酬专员的主战场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329184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考勤自动拆加班  ·  小费自动带入  ·  专员复核确认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看效果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少讲 PPT，多看真实效果。</a:t>
            </a:r>
            <a:endParaRPr lang="en-US" sz="3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现场演示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五步，看客户最终获得什么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196596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完成小费分配（TipOut）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246888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进入薪资管理，看小费自动带入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297180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改打卡，看加班自动重算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347472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打印员工签字明细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397764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导出报税文件（说明：人工导入，不对接 ADP）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客户最终获得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2651760" cy="2103120"/>
          </a:xfrm>
          <a:prstGeom prst="roundRect">
            <a:avLst>
              <a:gd name="adj" fmla="val 5217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2286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自动算好的数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" y="30632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1A1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考勤 · 加班 · 小费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474720" y="1737360"/>
            <a:ext cx="2651760" cy="2103120"/>
          </a:xfrm>
          <a:prstGeom prst="roundRect">
            <a:avLst>
              <a:gd name="adj" fmla="val 5217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11880" y="2286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能签字的一页纸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11880" y="30632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1A1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员工确认 · 门店留档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1737360"/>
            <a:ext cx="2651760" cy="2103120"/>
          </a:xfrm>
          <a:prstGeom prst="roundRect">
            <a:avLst>
              <a:gd name="adj" fmla="val 5217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286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能交差的报税文件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46520" y="30632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1A1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模板对齐 · 人工导入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093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业务场景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4548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五个真实场景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097280" y="1325880"/>
            <a:ext cx="6949440" cy="566928"/>
          </a:xfrm>
          <a:prstGeom prst="roundRect">
            <a:avLst>
              <a:gd name="adj" fmla="val 12903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435608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甲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874520" y="139903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增值售卖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840480" y="139903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1A1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全新增值服务 · 可单独开通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97280" y="1984248"/>
            <a:ext cx="6949440" cy="566928"/>
          </a:xfrm>
          <a:prstGeom prst="roundRect">
            <a:avLst>
              <a:gd name="adj" fmla="val 12903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80160" y="2093976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874520" y="2057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每期例行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840480" y="20574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1A1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选期 → 自动带入 → 复核确认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097280" y="2642616"/>
            <a:ext cx="6949440" cy="566928"/>
          </a:xfrm>
          <a:prstGeom prst="roundRect">
            <a:avLst>
              <a:gd name="adj" fmla="val 12903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80160" y="2752344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丙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874520" y="271576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员工签字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840480" y="271576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1A1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打印明细 → 签字存档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097280" y="3300984"/>
            <a:ext cx="6949440" cy="566928"/>
          </a:xfrm>
          <a:prstGeom prst="roundRect">
            <a:avLst>
              <a:gd name="adj" fmla="val 12903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80160" y="341071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丁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874520" y="3374136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文件交接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840480" y="337413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1A1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导出文件 → 人工导入报税侧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097280" y="3959352"/>
            <a:ext cx="6949440" cy="566928"/>
          </a:xfrm>
          <a:prstGeom prst="roundRect">
            <a:avLst>
              <a:gd name="adj" fmla="val 12903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80160" y="4069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戊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874520" y="403250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边界清醒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840480" y="4032504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1A1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现阶段不对接 ADP 系统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1400" b="1" kern="0" spc="4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谁最需要</a:t>
            </a:r>
            <a:endParaRPr lang="zh-CN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463040"/>
            <a:ext cx="8229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需要报税文件。</a:t>
            </a:r>
            <a:endParaRPr lang="zh-CN" sz="2400" dirty="0"/>
          </a:p>
          <a:p>
            <a:pPr marL="0" indent="0" algn="ctr">
              <a:buNone/>
            </a:pPr>
            <a:r>
              <a:rPr lang="zh-CN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已有小费分配。</a:t>
            </a:r>
            <a:endParaRPr lang="zh-CN" sz="2400" dirty="0"/>
          </a:p>
          <a:p>
            <a:pPr marL="0" indent="0" algn="ctr">
              <a:buNone/>
            </a:pPr>
            <a:r>
              <a:rPr lang="zh-CN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还在用表格拼数。</a:t>
            </a:r>
            <a:endParaRPr lang="zh-CN" sz="2400" dirty="0"/>
          </a:p>
          <a:p>
            <a:pPr marL="0" indent="0" algn="ctr">
              <a:buNone/>
            </a:pPr>
            <a:r>
              <a:rPr lang="zh-CN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员工要签字，门店要留档。</a:t>
            </a:r>
            <a:endParaRPr lang="zh-CN" sz="2400" dirty="0"/>
          </a:p>
          <a:p>
            <a:pPr marL="0" indent="0" algn="ctr">
              <a:buNone/>
            </a:pPr>
            <a:r>
              <a:rPr lang="zh-CN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双周发薪，每期都要对。</a:t>
            </a:r>
            <a:endParaRPr lang="zh-CN" sz="2400" dirty="0"/>
          </a:p>
          <a:p>
            <a:pPr marL="0" indent="0" algn="ctr">
              <a:buNone/>
            </a:pPr>
            <a:r>
              <a:rPr lang="zh-CN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已用我们小费分配。</a:t>
            </a:r>
            <a:endParaRPr lang="zh-CN" sz="2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怎么卖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卖给谁 · 为什么买 · 怎么开口</a:t>
            </a:r>
            <a:endParaRPr lang="en-US" sz="2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客户为什么会买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14400" y="1508760"/>
            <a:ext cx="7315200" cy="621792"/>
          </a:xfrm>
          <a:prstGeom prst="roundRect">
            <a:avLst>
              <a:gd name="adj" fmla="val 11765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3000" y="163677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痛够真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926080" y="163677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双周二十六次，抄表抄到崩溃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14400" y="2240280"/>
            <a:ext cx="7315200" cy="621792"/>
          </a:xfrm>
          <a:prstGeom prst="roundRect">
            <a:avLst>
              <a:gd name="adj" fmla="val 11765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236829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省得到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926080" y="236829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自动带小费、自动算加班，少人对账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2971800"/>
            <a:ext cx="7315200" cy="621792"/>
          </a:xfrm>
          <a:prstGeom prst="roundRect">
            <a:avLst>
              <a:gd name="adj" fmla="val 11765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309981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交得出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926080" y="309981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签字明细 + 报税文件，一次备齐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14400" y="3703320"/>
            <a:ext cx="7315200" cy="621792"/>
          </a:xfrm>
          <a:prstGeom prst="roundRect">
            <a:avLst>
              <a:gd name="adj" fmla="val 11765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43000" y="383133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加得上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926080" y="383133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已用 TipOut 的店，天然可加购增值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有什么证明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05840" y="14630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市场需求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92608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头部餐饮客户已提：报税格式导出 + 员工签字明细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05840" y="21945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竞品参照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926080" y="219456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Toast / 7shifts 有薪资闭环；我们切「准备层 + 餐饮小费」更贴地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产品闭环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926080" y="292608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 TipOut + 考勤，薪资管理补齐最后一环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36576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边界可信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26080" y="365760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不夸大：不发薪、不代报税、现阶段不对接 ADP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一句最容易传播的卖点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少抄表，少出错，</a:t>
            </a:r>
            <a:endParaRPr lang="en-US" sz="3400" dirty="0"/>
          </a:p>
          <a:p>
            <a:pPr marL="0" indent="0" algn="ctr">
              <a:buNone/>
            </a:pPr>
            <a:r>
              <a:rPr lang="en-US" sz="3400" b="1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报税文件一次出齐。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备用 Slogan：核对一次 · 签字有据 · 报税即用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 err="1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各部门怎么落地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788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每人记住自己的三件事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8069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各部门行动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2084832" cy="3246120"/>
          </a:xfrm>
          <a:prstGeom prst="roundRect">
            <a:avLst>
              <a:gd name="adj" fmla="val 4386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80160"/>
            <a:ext cx="2084832" cy="73152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463040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810512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怎么卖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93776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</a:t>
            </a:r>
            <a:r>
              <a:rPr lang="zh-CN" altLang="en-US" sz="11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</a:t>
            </a:r>
            <a:r>
              <a:rPr lang="en-US" sz="1100" dirty="0" err="1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当增值服务卖，单独报价开通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93776" y="288036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演示：小费自动→加班自动→导出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93776" y="35204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对外说清：现在不对接 ADP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560320" y="1280160"/>
            <a:ext cx="2084832" cy="3246120"/>
          </a:xfrm>
          <a:prstGeom prst="roundRect">
            <a:avLst>
              <a:gd name="adj" fmla="val 4386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0" y="1280160"/>
            <a:ext cx="2084832" cy="73152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51760" y="1463040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运营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651760" y="1810512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怎么开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688336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整理开通清单与权限模板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688336" y="288036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核对系统自动生成的发薪周期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688336" y="35204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组织 20 分钟上手培训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280160"/>
            <a:ext cx="2084832" cy="3246120"/>
          </a:xfrm>
          <a:prstGeom prst="roundRect">
            <a:avLst>
              <a:gd name="adj" fmla="val 4386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54880" y="1280160"/>
            <a:ext cx="2084832" cy="73152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1463040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846320" y="1810512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怎么讲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82896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按「全新增值服务」做素材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82896" y="288036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统一 Slogan，不写对接 ADP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82896" y="35204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准备一页对外简介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949440" y="1280160"/>
            <a:ext cx="2084832" cy="3246120"/>
          </a:xfrm>
          <a:prstGeom prst="roundRect">
            <a:avLst>
              <a:gd name="adj" fmla="val 4386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49440" y="1280160"/>
            <a:ext cx="2084832" cy="73152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0" y="1463040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售后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040880" y="1810512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怎么答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077456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更新常见问题答法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077456" y="288036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工单按权限/导出/规则分类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077456" y="35204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守住：不发薪、不代报税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15539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对外话术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61375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三十秒，这样说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371600"/>
            <a:ext cx="7589520" cy="658368"/>
          </a:xfrm>
          <a:prstGeom prst="roundRect">
            <a:avLst>
              <a:gd name="adj" fmla="val 11111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1517904"/>
            <a:ext cx="1234440" cy="365760"/>
          </a:xfrm>
          <a:prstGeom prst="roundRect">
            <a:avLst>
              <a:gd name="adj" fmla="val 15000"/>
            </a:avLst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51790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是什么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331720" y="1481328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公司全新增值服务——薪资管理 Payroll 1.0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148840"/>
            <a:ext cx="7589520" cy="658368"/>
          </a:xfrm>
          <a:prstGeom prst="roundRect">
            <a:avLst>
              <a:gd name="adj" fmla="val 11111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" y="2295144"/>
            <a:ext cx="1234440" cy="365760"/>
          </a:xfrm>
          <a:prstGeom prst="roundRect">
            <a:avLst>
              <a:gd name="adj" fmla="val 15000"/>
            </a:avLst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22951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能做什么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331720" y="2258568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小费自动带入 · 加班自动算 · 签字明细 · 报税文件导出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77240" y="2926080"/>
            <a:ext cx="7589520" cy="658368"/>
          </a:xfrm>
          <a:prstGeom prst="roundRect">
            <a:avLst>
              <a:gd name="adj" fmla="val 11111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3072384"/>
            <a:ext cx="1234440" cy="365760"/>
          </a:xfrm>
          <a:prstGeom prst="roundRect">
            <a:avLst>
              <a:gd name="adj" fmla="val 15000"/>
            </a:avLst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307238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怎么用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331720" y="3035808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专员复核确认 → 导出文件 → 人工导入报税侧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77240" y="3703320"/>
            <a:ext cx="7589520" cy="658368"/>
          </a:xfrm>
          <a:prstGeom prst="roundRect">
            <a:avLst>
              <a:gd name="adj" fmla="val 11111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3849624"/>
            <a:ext cx="1234440" cy="365760"/>
          </a:xfrm>
          <a:prstGeom prst="roundRect">
            <a:avLst>
              <a:gd name="adj" fmla="val 15000"/>
            </a:avLst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384962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331720" y="3813048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E8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现阶段不对接 ADP · 不发薪 · 不代报税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7208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快问快答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914400" y="1234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这是什么产品？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15270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公司全新增值服务 · Payroll 1.0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1440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会对接 ADP 吗？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35000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现阶段不支持系统对接，支持格式导出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880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小费自动过来吗？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1729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会。从自有小费分配（TipOut）自动获取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3703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加班自动算吗？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399592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会。系统自动拆分正常工时与加班</a:t>
            </a:r>
            <a:endParaRPr lang="en-US" sz="17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 err="1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核对一次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 err="1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签字有据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 err="1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报税即用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全新增值服务  ·  小费自动  ·  加班自动  ·  现阶段不对接 ADP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 </a:t>
            </a:r>
            <a:r>
              <a:rPr lang="en-US" sz="5200" b="1" dirty="0" err="1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1A1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薪资管理（Payroll）1.0  ·  已就绪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问答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1183</Words>
  <Application>Microsoft Office PowerPoint</Application>
  <PresentationFormat>全屏显示(16:9)</PresentationFormat>
  <Paragraphs>320</Paragraphs>
  <Slides>40</Slides>
  <Notes>40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40</vt:i4>
      </vt:variant>
    </vt:vector>
  </HeadingPairs>
  <TitlesOfParts>
    <vt:vector size="43" baseType="lpstr">
      <vt:lpstr>Microsoft YaHei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薪资管理（Payroll）1.0 产品发布会</dc:title>
  <dc:subject>Keynote 风格内部产品发布会</dc:subject>
  <dc:creator>Product Team</dc:creator>
  <cp:lastModifiedBy>飞 陈</cp:lastModifiedBy>
  <cp:revision>12</cp:revision>
  <dcterms:created xsi:type="dcterms:W3CDTF">2026-07-27T06:22:55Z</dcterms:created>
  <dcterms:modified xsi:type="dcterms:W3CDTF">2026-07-29T07:17:28Z</dcterms:modified>
</cp:coreProperties>
</file>